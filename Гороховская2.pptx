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4" r:id="rId5"/>
    <p:sldId id="267" r:id="rId6"/>
    <p:sldId id="268" r:id="rId7"/>
    <p:sldId id="270" r:id="rId8"/>
    <p:sldId id="271" r:id="rId9"/>
    <p:sldId id="265" r:id="rId10"/>
    <p:sldId id="266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22.01.2026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22.01.2026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22.01.2026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3207" y="2858518"/>
            <a:ext cx="10562511" cy="1668284"/>
          </a:xfrm>
        </p:spPr>
        <p:txBody>
          <a:bodyPr>
            <a:noAutofit/>
          </a:bodyPr>
          <a:lstStyle/>
          <a:p>
            <a:r>
              <a:rPr lang="ru-RU" sz="4000" dirty="0"/>
              <a:t>Индивидуальная работа №1 по дисциплине “Языки программирования”: Программа “Кадровое агентство”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Гороховская Анна Алексеевна Ит-7-2025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344033" y="1892174"/>
            <a:ext cx="11398312" cy="4600701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Цель работы: Создать программу для управления базой данных соискателей в кадровом агентстве.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Задачи:</a:t>
            </a:r>
          </a:p>
          <a:p>
            <a:pPr>
              <a:lnSpc>
                <a:spcPct val="120000"/>
              </a:lnSpc>
            </a:pPr>
            <a:r>
              <a:rPr lang="ru-RU" dirty="0"/>
              <a:t>Разработать структуру данных для хранения информации о соискателях (ФИО, пол, дата рождения, специальность, стаж, языки, оклад).</a:t>
            </a:r>
          </a:p>
          <a:p>
            <a:pPr>
              <a:lnSpc>
                <a:spcPct val="120000"/>
              </a:lnSpc>
            </a:pPr>
            <a:r>
              <a:rPr lang="ru-RU" dirty="0"/>
              <a:t>Реализовать функционал для загрузки, просмотра, добавления, удаления и редактирования записей.</a:t>
            </a:r>
          </a:p>
          <a:p>
            <a:pPr>
              <a:lnSpc>
                <a:spcPct val="120000"/>
              </a:lnSpc>
            </a:pPr>
            <a:r>
              <a:rPr lang="ru-RU" dirty="0"/>
              <a:t>Сформировать три отчёта на основе заданных критериев сортировки.</a:t>
            </a:r>
          </a:p>
          <a:p>
            <a:pPr>
              <a:lnSpc>
                <a:spcPct val="120000"/>
              </a:lnSpc>
            </a:pPr>
            <a:r>
              <a:rPr lang="ru-RU" dirty="0"/>
              <a:t>Обязательно использовать </a:t>
            </a:r>
            <a:r>
              <a:rPr lang="ru-RU" dirty="0" err="1"/>
              <a:t>шейкерную</a:t>
            </a:r>
            <a:r>
              <a:rPr lang="ru-RU" dirty="0"/>
              <a:t> сортировку для всех отчётов.</a:t>
            </a:r>
          </a:p>
        </p:txBody>
      </p: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69B44-A7C9-B290-7141-F41463FA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данных и основные функции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7313D0-AAFC-F22C-537A-44A2BB4A4D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/>
              <a:t>Структура данных:</a:t>
            </a:r>
            <a:br>
              <a:rPr lang="ru-RU" dirty="0"/>
            </a:br>
            <a:r>
              <a:rPr lang="ru-RU" dirty="0"/>
              <a:t>Каждый соискатель — словарь с ключами: </a:t>
            </a:r>
            <a:r>
              <a:rPr lang="ru-RU" dirty="0" err="1"/>
              <a:t>fam</a:t>
            </a:r>
            <a:r>
              <a:rPr lang="ru-RU" dirty="0"/>
              <a:t>, </a:t>
            </a:r>
            <a:r>
              <a:rPr lang="ru-RU" dirty="0" err="1"/>
              <a:t>im</a:t>
            </a:r>
            <a:r>
              <a:rPr lang="ru-RU" dirty="0"/>
              <a:t>, </a:t>
            </a:r>
            <a:r>
              <a:rPr lang="ru-RU" dirty="0" err="1"/>
              <a:t>otch</a:t>
            </a:r>
            <a:r>
              <a:rPr lang="ru-RU" dirty="0"/>
              <a:t>, </a:t>
            </a:r>
            <a:r>
              <a:rPr lang="ru-RU" dirty="0" err="1"/>
              <a:t>pol</a:t>
            </a:r>
            <a:r>
              <a:rPr lang="ru-RU" dirty="0"/>
              <a:t>, </a:t>
            </a:r>
            <a:r>
              <a:rPr lang="ru-RU" dirty="0" err="1"/>
              <a:t>year</a:t>
            </a:r>
            <a:r>
              <a:rPr lang="ru-RU" dirty="0"/>
              <a:t>/</a:t>
            </a:r>
            <a:r>
              <a:rPr lang="ru-RU" dirty="0" err="1"/>
              <a:t>month</a:t>
            </a:r>
            <a:r>
              <a:rPr lang="ru-RU" dirty="0"/>
              <a:t>/</a:t>
            </a:r>
            <a:r>
              <a:rPr lang="ru-RU" dirty="0" err="1"/>
              <a:t>day</a:t>
            </a:r>
            <a:r>
              <a:rPr lang="ru-RU" dirty="0"/>
              <a:t>, </a:t>
            </a:r>
            <a:r>
              <a:rPr lang="ru-RU" dirty="0" err="1"/>
              <a:t>spec</a:t>
            </a:r>
            <a:r>
              <a:rPr lang="ru-RU" dirty="0"/>
              <a:t>, </a:t>
            </a:r>
            <a:r>
              <a:rPr lang="ru-RU" dirty="0" err="1"/>
              <a:t>staj</a:t>
            </a:r>
            <a:r>
              <a:rPr lang="ru-RU" dirty="0"/>
              <a:t>, </a:t>
            </a:r>
            <a:r>
              <a:rPr lang="ru-RU" dirty="0" err="1"/>
              <a:t>lang</a:t>
            </a:r>
            <a:r>
              <a:rPr lang="ru-RU" dirty="0"/>
              <a:t>, </a:t>
            </a:r>
            <a:r>
              <a:rPr lang="ru-RU" dirty="0" err="1"/>
              <a:t>oklad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Вся база — список таких словарей.</a:t>
            </a:r>
          </a:p>
          <a:p>
            <a:pPr marL="0" indent="0">
              <a:buNone/>
            </a:pPr>
            <a:r>
              <a:rPr lang="ru-RU" b="1" dirty="0"/>
              <a:t>Основные функции:</a:t>
            </a:r>
            <a:endParaRPr lang="ru-RU" dirty="0"/>
          </a:p>
          <a:p>
            <a:r>
              <a:rPr lang="ru-RU" b="1" dirty="0"/>
              <a:t>Загрузка/сохранение</a:t>
            </a:r>
            <a:r>
              <a:rPr lang="ru-RU" dirty="0"/>
              <a:t> — чтение из файла soiskateli.txt и запись в него. </a:t>
            </a:r>
          </a:p>
          <a:p>
            <a:r>
              <a:rPr lang="ru-RU" b="1" dirty="0"/>
              <a:t>Просмотр</a:t>
            </a:r>
            <a:r>
              <a:rPr lang="ru-RU" dirty="0"/>
              <a:t> — вывод всей базы в виде таблицы. </a:t>
            </a:r>
          </a:p>
          <a:p>
            <a:r>
              <a:rPr lang="ru-RU" b="1" dirty="0"/>
              <a:t>Добавление</a:t>
            </a:r>
            <a:r>
              <a:rPr lang="ru-RU" dirty="0"/>
              <a:t> — ввод новой записи с валидацией (ФИО, дата, пол, стаж, оклад). </a:t>
            </a:r>
          </a:p>
          <a:p>
            <a:r>
              <a:rPr lang="ru-RU" b="1" dirty="0"/>
              <a:t>Удаление</a:t>
            </a:r>
            <a:r>
              <a:rPr lang="ru-RU" dirty="0"/>
              <a:t> — по фамилии или номеру. </a:t>
            </a:r>
          </a:p>
          <a:p>
            <a:r>
              <a:rPr lang="ru-RU" b="1" dirty="0"/>
              <a:t>Редактирование</a:t>
            </a:r>
            <a:r>
              <a:rPr lang="ru-RU" dirty="0"/>
              <a:t> — поиск по фамилии и изменение полей. </a:t>
            </a:r>
          </a:p>
          <a:p>
            <a:r>
              <a:rPr lang="ru-RU" b="1" dirty="0"/>
              <a:t>Формирование отчётов</a:t>
            </a:r>
            <a:r>
              <a:rPr lang="ru-RU" dirty="0"/>
              <a:t> — три вида, все с </a:t>
            </a:r>
            <a:r>
              <a:rPr lang="ru-RU" b="1" dirty="0" err="1"/>
              <a:t>шейкерной</a:t>
            </a:r>
            <a:r>
              <a:rPr lang="ru-RU" b="1" dirty="0"/>
              <a:t> сортировкой</a:t>
            </a:r>
            <a:r>
              <a:rPr lang="ru-RU" dirty="0"/>
              <a:t>: </a:t>
            </a:r>
          </a:p>
          <a:p>
            <a:pPr lvl="1"/>
            <a:r>
              <a:rPr lang="ru-RU" dirty="0"/>
              <a:t>По специальности ↑ + фамилия ↑ </a:t>
            </a:r>
          </a:p>
          <a:p>
            <a:pPr lvl="1"/>
            <a:r>
              <a:rPr lang="ru-RU" dirty="0"/>
              <a:t>По стажу ↓ + полу ↓ + фамилии ↑ (по выбранной специальности) </a:t>
            </a:r>
          </a:p>
          <a:p>
            <a:pPr lvl="1"/>
            <a:r>
              <a:rPr lang="ru-RU" dirty="0"/>
              <a:t>По окладу ↓ + фамилии ↑ (в заданном диапазоне)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29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47E97-2BA7-13ED-3574-723A770A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09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Схема работы программы</a:t>
            </a:r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04EBFE95-3E33-3A48-72D2-2DEAC41EC9D1}"/>
              </a:ext>
            </a:extLst>
          </p:cNvPr>
          <p:cNvSpPr/>
          <p:nvPr/>
        </p:nvSpPr>
        <p:spPr>
          <a:xfrm>
            <a:off x="333469" y="1991762"/>
            <a:ext cx="11525062" cy="45267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Загрузка данных из файла 'soiskateli.txt'</a:t>
            </a:r>
          </a:p>
        </p:txBody>
      </p:sp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FEA7267D-7879-5248-03C4-A2A8BCAADCE0}"/>
              </a:ext>
            </a:extLst>
          </p:cNvPr>
          <p:cNvSpPr/>
          <p:nvPr/>
        </p:nvSpPr>
        <p:spPr>
          <a:xfrm>
            <a:off x="333469" y="2745509"/>
            <a:ext cx="215255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Показать всю базу</a:t>
            </a:r>
          </a:p>
        </p:txBody>
      </p:sp>
      <p:sp>
        <p:nvSpPr>
          <p:cNvPr id="11" name="Блок-схема: альтернативный процесс 10">
            <a:extLst>
              <a:ext uri="{FF2B5EF4-FFF2-40B4-BE49-F238E27FC236}">
                <a16:creationId xmlns:a16="http://schemas.microsoft.com/office/drawing/2014/main" id="{6D3F5201-E94B-7FCB-F837-B28F6CDB0CC9}"/>
              </a:ext>
            </a:extLst>
          </p:cNvPr>
          <p:cNvSpPr/>
          <p:nvPr/>
        </p:nvSpPr>
        <p:spPr>
          <a:xfrm>
            <a:off x="333469" y="3275091"/>
            <a:ext cx="215255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Добавить запись</a:t>
            </a:r>
          </a:p>
        </p:txBody>
      </p:sp>
      <p:sp>
        <p:nvSpPr>
          <p:cNvPr id="12" name="Блок-схема: альтернативный процесс 11">
            <a:extLst>
              <a:ext uri="{FF2B5EF4-FFF2-40B4-BE49-F238E27FC236}">
                <a16:creationId xmlns:a16="http://schemas.microsoft.com/office/drawing/2014/main" id="{B12B2EC2-42A9-0A35-6DD8-DD6244FD52AF}"/>
              </a:ext>
            </a:extLst>
          </p:cNvPr>
          <p:cNvSpPr/>
          <p:nvPr/>
        </p:nvSpPr>
        <p:spPr>
          <a:xfrm>
            <a:off x="333468" y="3797928"/>
            <a:ext cx="215255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Удалить запись</a:t>
            </a:r>
          </a:p>
        </p:txBody>
      </p:sp>
      <p:sp>
        <p:nvSpPr>
          <p:cNvPr id="13" name="Блок-схема: альтернативный процесс 12">
            <a:extLst>
              <a:ext uri="{FF2B5EF4-FFF2-40B4-BE49-F238E27FC236}">
                <a16:creationId xmlns:a16="http://schemas.microsoft.com/office/drawing/2014/main" id="{DE81D3D7-EB18-9D45-4EE1-DEA4EF34704A}"/>
              </a:ext>
            </a:extLst>
          </p:cNvPr>
          <p:cNvSpPr/>
          <p:nvPr/>
        </p:nvSpPr>
        <p:spPr>
          <a:xfrm>
            <a:off x="333467" y="4327510"/>
            <a:ext cx="2143503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Изменить запись</a:t>
            </a:r>
          </a:p>
        </p:txBody>
      </p:sp>
      <p:sp>
        <p:nvSpPr>
          <p:cNvPr id="14" name="Блок-схема: альтернативный процесс 13">
            <a:extLst>
              <a:ext uri="{FF2B5EF4-FFF2-40B4-BE49-F238E27FC236}">
                <a16:creationId xmlns:a16="http://schemas.microsoft.com/office/drawing/2014/main" id="{9B335C2A-71EB-50B1-18AC-DAE4186D87F4}"/>
              </a:ext>
            </a:extLst>
          </p:cNvPr>
          <p:cNvSpPr/>
          <p:nvPr/>
        </p:nvSpPr>
        <p:spPr>
          <a:xfrm>
            <a:off x="333466" y="4857092"/>
            <a:ext cx="2152558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Сформировать отчёты</a:t>
            </a:r>
          </a:p>
        </p:txBody>
      </p:sp>
      <p:sp>
        <p:nvSpPr>
          <p:cNvPr id="15" name="Блок-схема: альтернативный процесс 14">
            <a:extLst>
              <a:ext uri="{FF2B5EF4-FFF2-40B4-BE49-F238E27FC236}">
                <a16:creationId xmlns:a16="http://schemas.microsoft.com/office/drawing/2014/main" id="{24A05C76-4E38-ECD6-DE7A-61748E349BB2}"/>
              </a:ext>
            </a:extLst>
          </p:cNvPr>
          <p:cNvSpPr/>
          <p:nvPr/>
        </p:nvSpPr>
        <p:spPr>
          <a:xfrm>
            <a:off x="333466" y="5368565"/>
            <a:ext cx="2143504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Сохранить изменения</a:t>
            </a:r>
          </a:p>
        </p:txBody>
      </p:sp>
      <p:sp>
        <p:nvSpPr>
          <p:cNvPr id="16" name="Блок-схема: альтернативный процесс 15">
            <a:extLst>
              <a:ext uri="{FF2B5EF4-FFF2-40B4-BE49-F238E27FC236}">
                <a16:creationId xmlns:a16="http://schemas.microsoft.com/office/drawing/2014/main" id="{EE473803-3C40-6E9B-51FA-C018E0221827}"/>
              </a:ext>
            </a:extLst>
          </p:cNvPr>
          <p:cNvSpPr/>
          <p:nvPr/>
        </p:nvSpPr>
        <p:spPr>
          <a:xfrm>
            <a:off x="333465" y="5909511"/>
            <a:ext cx="2152558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Выход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55B1F6E-B479-4CAD-5B07-F52919CBBEFB}"/>
              </a:ext>
            </a:extLst>
          </p:cNvPr>
          <p:cNvCxnSpPr>
            <a:cxnSpLocks/>
          </p:cNvCxnSpPr>
          <p:nvPr/>
        </p:nvCxnSpPr>
        <p:spPr>
          <a:xfrm flipH="1" flipV="1">
            <a:off x="144855" y="2218098"/>
            <a:ext cx="1886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3D75D1B1-A6BE-CDE8-FDEF-E972C8F3E460}"/>
              </a:ext>
            </a:extLst>
          </p:cNvPr>
          <p:cNvCxnSpPr>
            <a:cxnSpLocks/>
          </p:cNvCxnSpPr>
          <p:nvPr/>
        </p:nvCxnSpPr>
        <p:spPr>
          <a:xfrm>
            <a:off x="135802" y="2218098"/>
            <a:ext cx="9053" cy="3845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C2E3E8C-14EE-D1C5-204B-870E502C8F68}"/>
              </a:ext>
            </a:extLst>
          </p:cNvPr>
          <p:cNvCxnSpPr>
            <a:cxnSpLocks/>
          </p:cNvCxnSpPr>
          <p:nvPr/>
        </p:nvCxnSpPr>
        <p:spPr>
          <a:xfrm>
            <a:off x="144855" y="6063419"/>
            <a:ext cx="1886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A96DAD7-56E2-3A3E-ED80-102391D38D4B}"/>
              </a:ext>
            </a:extLst>
          </p:cNvPr>
          <p:cNvCxnSpPr>
            <a:cxnSpLocks/>
          </p:cNvCxnSpPr>
          <p:nvPr/>
        </p:nvCxnSpPr>
        <p:spPr>
          <a:xfrm>
            <a:off x="144855" y="5522473"/>
            <a:ext cx="1886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4B2EE67-D5F7-B9F8-633A-5AF2E853B251}"/>
              </a:ext>
            </a:extLst>
          </p:cNvPr>
          <p:cNvCxnSpPr>
            <a:cxnSpLocks/>
          </p:cNvCxnSpPr>
          <p:nvPr/>
        </p:nvCxnSpPr>
        <p:spPr>
          <a:xfrm>
            <a:off x="144855" y="5011000"/>
            <a:ext cx="1886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2AD4F9DC-60FC-DDCF-AFA8-E01CC6BE2F8B}"/>
              </a:ext>
            </a:extLst>
          </p:cNvPr>
          <p:cNvCxnSpPr>
            <a:cxnSpLocks/>
          </p:cNvCxnSpPr>
          <p:nvPr/>
        </p:nvCxnSpPr>
        <p:spPr>
          <a:xfrm>
            <a:off x="144855" y="4481418"/>
            <a:ext cx="1886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4CE5BD56-3C24-F118-1EB9-CC088CEEC19A}"/>
              </a:ext>
            </a:extLst>
          </p:cNvPr>
          <p:cNvCxnSpPr>
            <a:cxnSpLocks/>
          </p:cNvCxnSpPr>
          <p:nvPr/>
        </p:nvCxnSpPr>
        <p:spPr>
          <a:xfrm>
            <a:off x="144855" y="3951836"/>
            <a:ext cx="1886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14FCE39F-FC1F-1471-FBBD-03240E70FB1A}"/>
              </a:ext>
            </a:extLst>
          </p:cNvPr>
          <p:cNvCxnSpPr>
            <a:cxnSpLocks/>
          </p:cNvCxnSpPr>
          <p:nvPr/>
        </p:nvCxnSpPr>
        <p:spPr>
          <a:xfrm>
            <a:off x="144855" y="3428999"/>
            <a:ext cx="188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A6315B44-3F8E-88A4-DEE4-A0F59926E0EC}"/>
              </a:ext>
            </a:extLst>
          </p:cNvPr>
          <p:cNvCxnSpPr>
            <a:cxnSpLocks/>
          </p:cNvCxnSpPr>
          <p:nvPr/>
        </p:nvCxnSpPr>
        <p:spPr>
          <a:xfrm>
            <a:off x="144855" y="2899417"/>
            <a:ext cx="188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Блок-схема: альтернативный процесс 52">
            <a:extLst>
              <a:ext uri="{FF2B5EF4-FFF2-40B4-BE49-F238E27FC236}">
                <a16:creationId xmlns:a16="http://schemas.microsoft.com/office/drawing/2014/main" id="{3F5AB376-059D-EE7F-E2A3-2C5E887281B3}"/>
              </a:ext>
            </a:extLst>
          </p:cNvPr>
          <p:cNvSpPr/>
          <p:nvPr/>
        </p:nvSpPr>
        <p:spPr>
          <a:xfrm>
            <a:off x="2806699" y="2745509"/>
            <a:ext cx="2542309" cy="33761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Вывод таблицы</a:t>
            </a:r>
          </a:p>
        </p:txBody>
      </p:sp>
      <p:sp>
        <p:nvSpPr>
          <p:cNvPr id="54" name="Блок-схема: альтернативный процесс 53">
            <a:extLst>
              <a:ext uri="{FF2B5EF4-FFF2-40B4-BE49-F238E27FC236}">
                <a16:creationId xmlns:a16="http://schemas.microsoft.com/office/drawing/2014/main" id="{56D03758-E58F-A9BF-7870-F43E6D209183}"/>
              </a:ext>
            </a:extLst>
          </p:cNvPr>
          <p:cNvSpPr/>
          <p:nvPr/>
        </p:nvSpPr>
        <p:spPr>
          <a:xfrm>
            <a:off x="2806699" y="3259291"/>
            <a:ext cx="2542308" cy="3236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Ввод и валидация данных</a:t>
            </a:r>
          </a:p>
        </p:txBody>
      </p:sp>
      <p:sp>
        <p:nvSpPr>
          <p:cNvPr id="55" name="Блок-схема: альтернативный процесс 54">
            <a:extLst>
              <a:ext uri="{FF2B5EF4-FFF2-40B4-BE49-F238E27FC236}">
                <a16:creationId xmlns:a16="http://schemas.microsoft.com/office/drawing/2014/main" id="{4F4841B2-756B-C866-203E-6C7FE1865527}"/>
              </a:ext>
            </a:extLst>
          </p:cNvPr>
          <p:cNvSpPr/>
          <p:nvPr/>
        </p:nvSpPr>
        <p:spPr>
          <a:xfrm>
            <a:off x="2806699" y="3792775"/>
            <a:ext cx="2542308" cy="33538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Выбор по фамилии</a:t>
            </a:r>
          </a:p>
        </p:txBody>
      </p:sp>
      <p:sp>
        <p:nvSpPr>
          <p:cNvPr id="56" name="Блок-схема: альтернативный процесс 55">
            <a:extLst>
              <a:ext uri="{FF2B5EF4-FFF2-40B4-BE49-F238E27FC236}">
                <a16:creationId xmlns:a16="http://schemas.microsoft.com/office/drawing/2014/main" id="{E265DE10-92E1-0980-2985-98435F3A3A01}"/>
              </a:ext>
            </a:extLst>
          </p:cNvPr>
          <p:cNvSpPr/>
          <p:nvPr/>
        </p:nvSpPr>
        <p:spPr>
          <a:xfrm>
            <a:off x="2806699" y="4327510"/>
            <a:ext cx="2542308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Поиск по фамилии</a:t>
            </a:r>
          </a:p>
        </p:txBody>
      </p:sp>
      <p:sp>
        <p:nvSpPr>
          <p:cNvPr id="57" name="Блок-схема: альтернативный процесс 56">
            <a:extLst>
              <a:ext uri="{FF2B5EF4-FFF2-40B4-BE49-F238E27FC236}">
                <a16:creationId xmlns:a16="http://schemas.microsoft.com/office/drawing/2014/main" id="{724DCF1C-61CF-101E-B94A-ACCB7277ED9D}"/>
              </a:ext>
            </a:extLst>
          </p:cNvPr>
          <p:cNvSpPr/>
          <p:nvPr/>
        </p:nvSpPr>
        <p:spPr>
          <a:xfrm>
            <a:off x="2806699" y="4857092"/>
            <a:ext cx="2542307" cy="35326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Вызов </a:t>
            </a:r>
            <a:r>
              <a:rPr lang="en-US" sz="1400" dirty="0" err="1"/>
              <a:t>generate_reports</a:t>
            </a:r>
            <a:r>
              <a:rPr lang="en-US" sz="1400" dirty="0"/>
              <a:t>()</a:t>
            </a:r>
            <a:endParaRPr lang="ru-RU" sz="1400" dirty="0"/>
          </a:p>
        </p:txBody>
      </p:sp>
      <p:sp>
        <p:nvSpPr>
          <p:cNvPr id="58" name="Блок-схема: альтернативный процесс 57">
            <a:extLst>
              <a:ext uri="{FF2B5EF4-FFF2-40B4-BE49-F238E27FC236}">
                <a16:creationId xmlns:a16="http://schemas.microsoft.com/office/drawing/2014/main" id="{D8EAF4ED-EBC1-66B6-98A6-5791E71D4B66}"/>
              </a:ext>
            </a:extLst>
          </p:cNvPr>
          <p:cNvSpPr/>
          <p:nvPr/>
        </p:nvSpPr>
        <p:spPr>
          <a:xfrm>
            <a:off x="2806700" y="5364261"/>
            <a:ext cx="254230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Запись списка в файл</a:t>
            </a:r>
          </a:p>
        </p:txBody>
      </p:sp>
      <p:sp>
        <p:nvSpPr>
          <p:cNvPr id="59" name="Блок-схема: альтернативный процесс 58">
            <a:extLst>
              <a:ext uri="{FF2B5EF4-FFF2-40B4-BE49-F238E27FC236}">
                <a16:creationId xmlns:a16="http://schemas.microsoft.com/office/drawing/2014/main" id="{4224DCD9-B4AB-E60D-FEC7-DF0611EB8B89}"/>
              </a:ext>
            </a:extLst>
          </p:cNvPr>
          <p:cNvSpPr/>
          <p:nvPr/>
        </p:nvSpPr>
        <p:spPr>
          <a:xfrm>
            <a:off x="2806701" y="5909511"/>
            <a:ext cx="2542305" cy="38703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Подтверждение сохранения</a:t>
            </a: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BAC36C3F-824B-BD3E-D18D-04B6B929022D}"/>
              </a:ext>
            </a:extLst>
          </p:cNvPr>
          <p:cNvCxnSpPr>
            <a:cxnSpLocks/>
          </p:cNvCxnSpPr>
          <p:nvPr/>
        </p:nvCxnSpPr>
        <p:spPr>
          <a:xfrm>
            <a:off x="2486025" y="2899418"/>
            <a:ext cx="320674" cy="14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F53A2C0A-6271-8C05-CFCB-FDCE6390087F}"/>
              </a:ext>
            </a:extLst>
          </p:cNvPr>
          <p:cNvCxnSpPr>
            <a:cxnSpLocks/>
          </p:cNvCxnSpPr>
          <p:nvPr/>
        </p:nvCxnSpPr>
        <p:spPr>
          <a:xfrm flipV="1">
            <a:off x="2486025" y="3421100"/>
            <a:ext cx="320674" cy="7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6C2354A9-213C-131D-928C-89A0AAC8E101}"/>
              </a:ext>
            </a:extLst>
          </p:cNvPr>
          <p:cNvCxnSpPr>
            <a:cxnSpLocks/>
          </p:cNvCxnSpPr>
          <p:nvPr/>
        </p:nvCxnSpPr>
        <p:spPr>
          <a:xfrm>
            <a:off x="2486024" y="3951837"/>
            <a:ext cx="320675" cy="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36082A9B-0F11-BD58-68DE-67959D6A7688}"/>
              </a:ext>
            </a:extLst>
          </p:cNvPr>
          <p:cNvCxnSpPr>
            <a:cxnSpLocks/>
          </p:cNvCxnSpPr>
          <p:nvPr/>
        </p:nvCxnSpPr>
        <p:spPr>
          <a:xfrm>
            <a:off x="2486024" y="5011001"/>
            <a:ext cx="320675" cy="22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59536E85-4163-3E9E-5097-0CFFE2F7876F}"/>
              </a:ext>
            </a:extLst>
          </p:cNvPr>
          <p:cNvCxnSpPr>
            <a:cxnSpLocks/>
          </p:cNvCxnSpPr>
          <p:nvPr/>
        </p:nvCxnSpPr>
        <p:spPr>
          <a:xfrm flipV="1">
            <a:off x="2476970" y="5518170"/>
            <a:ext cx="329730" cy="4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D179B04E-80BA-874B-0267-5DD4CF3A2E85}"/>
              </a:ext>
            </a:extLst>
          </p:cNvPr>
          <p:cNvCxnSpPr>
            <a:cxnSpLocks/>
          </p:cNvCxnSpPr>
          <p:nvPr/>
        </p:nvCxnSpPr>
        <p:spPr>
          <a:xfrm>
            <a:off x="2486023" y="6063420"/>
            <a:ext cx="320678" cy="3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424B6BC0-A178-DBC7-D2BF-AE9473878C78}"/>
              </a:ext>
            </a:extLst>
          </p:cNvPr>
          <p:cNvCxnSpPr/>
          <p:nvPr/>
        </p:nvCxnSpPr>
        <p:spPr>
          <a:xfrm>
            <a:off x="2476970" y="4481419"/>
            <a:ext cx="329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Блок-схема: альтернативный процесс 95">
            <a:extLst>
              <a:ext uri="{FF2B5EF4-FFF2-40B4-BE49-F238E27FC236}">
                <a16:creationId xmlns:a16="http://schemas.microsoft.com/office/drawing/2014/main" id="{E87A318E-95B0-AA96-8DE4-EB74263DFB5E}"/>
              </a:ext>
            </a:extLst>
          </p:cNvPr>
          <p:cNvSpPr/>
          <p:nvPr/>
        </p:nvSpPr>
        <p:spPr>
          <a:xfrm>
            <a:off x="5524500" y="2745509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97" name="Блок-схема: альтернативный процесс 96">
            <a:extLst>
              <a:ext uri="{FF2B5EF4-FFF2-40B4-BE49-F238E27FC236}">
                <a16:creationId xmlns:a16="http://schemas.microsoft.com/office/drawing/2014/main" id="{E75BF40E-1FED-5EE9-E62B-F2D0009BA948}"/>
              </a:ext>
            </a:extLst>
          </p:cNvPr>
          <p:cNvSpPr/>
          <p:nvPr/>
        </p:nvSpPr>
        <p:spPr>
          <a:xfrm>
            <a:off x="5524500" y="3259291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Добавление в список</a:t>
            </a:r>
          </a:p>
        </p:txBody>
      </p:sp>
      <p:sp>
        <p:nvSpPr>
          <p:cNvPr id="98" name="Блок-схема: альтернативный процесс 97">
            <a:extLst>
              <a:ext uri="{FF2B5EF4-FFF2-40B4-BE49-F238E27FC236}">
                <a16:creationId xmlns:a16="http://schemas.microsoft.com/office/drawing/2014/main" id="{4131E5C8-EE8D-4CA3-472F-DA416D76A786}"/>
              </a:ext>
            </a:extLst>
          </p:cNvPr>
          <p:cNvSpPr/>
          <p:nvPr/>
        </p:nvSpPr>
        <p:spPr>
          <a:xfrm>
            <a:off x="5524500" y="3789796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Удаление из списка</a:t>
            </a:r>
          </a:p>
        </p:txBody>
      </p:sp>
      <p:sp>
        <p:nvSpPr>
          <p:cNvPr id="99" name="Блок-схема: альтернативный процесс 98">
            <a:extLst>
              <a:ext uri="{FF2B5EF4-FFF2-40B4-BE49-F238E27FC236}">
                <a16:creationId xmlns:a16="http://schemas.microsoft.com/office/drawing/2014/main" id="{8924A72C-F376-7F62-EFF4-DAB864F0CB1B}"/>
              </a:ext>
            </a:extLst>
          </p:cNvPr>
          <p:cNvSpPr/>
          <p:nvPr/>
        </p:nvSpPr>
        <p:spPr>
          <a:xfrm>
            <a:off x="5524500" y="4320301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Редактирование полей</a:t>
            </a:r>
          </a:p>
        </p:txBody>
      </p:sp>
      <p:sp>
        <p:nvSpPr>
          <p:cNvPr id="100" name="Блок-схема: альтернативный процесс 99">
            <a:extLst>
              <a:ext uri="{FF2B5EF4-FFF2-40B4-BE49-F238E27FC236}">
                <a16:creationId xmlns:a16="http://schemas.microsoft.com/office/drawing/2014/main" id="{D0393201-71C4-9613-2525-E43D84A2E2C6}"/>
              </a:ext>
            </a:extLst>
          </p:cNvPr>
          <p:cNvSpPr/>
          <p:nvPr/>
        </p:nvSpPr>
        <p:spPr>
          <a:xfrm>
            <a:off x="5524500" y="4862418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Создание 3 отчётов</a:t>
            </a:r>
          </a:p>
        </p:txBody>
      </p:sp>
      <p:sp>
        <p:nvSpPr>
          <p:cNvPr id="101" name="Блок-схема: альтернативный процесс 100">
            <a:extLst>
              <a:ext uri="{FF2B5EF4-FFF2-40B4-BE49-F238E27FC236}">
                <a16:creationId xmlns:a16="http://schemas.microsoft.com/office/drawing/2014/main" id="{88AC768A-7FFA-7F52-9E09-08081C484B25}"/>
              </a:ext>
            </a:extLst>
          </p:cNvPr>
          <p:cNvSpPr/>
          <p:nvPr/>
        </p:nvSpPr>
        <p:spPr>
          <a:xfrm>
            <a:off x="5524500" y="5364260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02" name="Блок-схема: альтернативный процесс 101">
            <a:extLst>
              <a:ext uri="{FF2B5EF4-FFF2-40B4-BE49-F238E27FC236}">
                <a16:creationId xmlns:a16="http://schemas.microsoft.com/office/drawing/2014/main" id="{E639F17B-0A06-95B7-185E-081FD678435F}"/>
              </a:ext>
            </a:extLst>
          </p:cNvPr>
          <p:cNvSpPr/>
          <p:nvPr/>
        </p:nvSpPr>
        <p:spPr>
          <a:xfrm>
            <a:off x="5524500" y="5906532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Завершение программы</a:t>
            </a:r>
          </a:p>
        </p:txBody>
      </p: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B27259D0-5FE8-6B56-0633-3FE8F8656639}"/>
              </a:ext>
            </a:extLst>
          </p:cNvPr>
          <p:cNvCxnSpPr/>
          <p:nvPr/>
        </p:nvCxnSpPr>
        <p:spPr>
          <a:xfrm flipV="1">
            <a:off x="5349008" y="2899418"/>
            <a:ext cx="175492" cy="14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 стрелкой 105">
            <a:extLst>
              <a:ext uri="{FF2B5EF4-FFF2-40B4-BE49-F238E27FC236}">
                <a16:creationId xmlns:a16="http://schemas.microsoft.com/office/drawing/2014/main" id="{DFE213AD-0A2F-FE00-5EEF-F3497DA3BE6B}"/>
              </a:ext>
            </a:extLst>
          </p:cNvPr>
          <p:cNvCxnSpPr/>
          <p:nvPr/>
        </p:nvCxnSpPr>
        <p:spPr>
          <a:xfrm flipV="1">
            <a:off x="5349007" y="3413200"/>
            <a:ext cx="175493" cy="7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A29635D9-45FB-CFEC-18AE-FA57021C1C95}"/>
              </a:ext>
            </a:extLst>
          </p:cNvPr>
          <p:cNvCxnSpPr/>
          <p:nvPr/>
        </p:nvCxnSpPr>
        <p:spPr>
          <a:xfrm flipV="1">
            <a:off x="5349007" y="3943705"/>
            <a:ext cx="175493" cy="16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5273BB58-D336-5927-ED10-183F285250B1}"/>
              </a:ext>
            </a:extLst>
          </p:cNvPr>
          <p:cNvCxnSpPr/>
          <p:nvPr/>
        </p:nvCxnSpPr>
        <p:spPr>
          <a:xfrm flipV="1">
            <a:off x="5349007" y="4474210"/>
            <a:ext cx="175493" cy="7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>
            <a:extLst>
              <a:ext uri="{FF2B5EF4-FFF2-40B4-BE49-F238E27FC236}">
                <a16:creationId xmlns:a16="http://schemas.microsoft.com/office/drawing/2014/main" id="{39FED6A4-E2FA-6CC9-4E88-3858A73C260B}"/>
              </a:ext>
            </a:extLst>
          </p:cNvPr>
          <p:cNvCxnSpPr/>
          <p:nvPr/>
        </p:nvCxnSpPr>
        <p:spPr>
          <a:xfrm flipV="1">
            <a:off x="5349006" y="5016327"/>
            <a:ext cx="175494" cy="17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7E4C30EF-E4D0-069B-36AD-9BA507D5A228}"/>
              </a:ext>
            </a:extLst>
          </p:cNvPr>
          <p:cNvCxnSpPr/>
          <p:nvPr/>
        </p:nvCxnSpPr>
        <p:spPr>
          <a:xfrm flipV="1">
            <a:off x="5349006" y="5518169"/>
            <a:ext cx="1754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>
            <a:extLst>
              <a:ext uri="{FF2B5EF4-FFF2-40B4-BE49-F238E27FC236}">
                <a16:creationId xmlns:a16="http://schemas.microsoft.com/office/drawing/2014/main" id="{CCDCEA4E-1A12-BBCB-1DE9-951A4271E532}"/>
              </a:ext>
            </a:extLst>
          </p:cNvPr>
          <p:cNvCxnSpPr/>
          <p:nvPr/>
        </p:nvCxnSpPr>
        <p:spPr>
          <a:xfrm flipV="1">
            <a:off x="5349006" y="6060441"/>
            <a:ext cx="175494" cy="42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Блок-схема: альтернативный процесс 119">
            <a:extLst>
              <a:ext uri="{FF2B5EF4-FFF2-40B4-BE49-F238E27FC236}">
                <a16:creationId xmlns:a16="http://schemas.microsoft.com/office/drawing/2014/main" id="{BC59D6E9-F7A2-6447-6541-481B2509E362}"/>
              </a:ext>
            </a:extLst>
          </p:cNvPr>
          <p:cNvSpPr/>
          <p:nvPr/>
        </p:nvSpPr>
        <p:spPr>
          <a:xfrm>
            <a:off x="9261476" y="3228459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21" name="Блок-схема: альтернативный процесс 120">
            <a:extLst>
              <a:ext uri="{FF2B5EF4-FFF2-40B4-BE49-F238E27FC236}">
                <a16:creationId xmlns:a16="http://schemas.microsoft.com/office/drawing/2014/main" id="{37539302-C334-27D4-9B9C-E5CF0E48B3E0}"/>
              </a:ext>
            </a:extLst>
          </p:cNvPr>
          <p:cNvSpPr/>
          <p:nvPr/>
        </p:nvSpPr>
        <p:spPr>
          <a:xfrm>
            <a:off x="9261476" y="3750439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22" name="Блок-схема: альтернативный процесс 121">
            <a:extLst>
              <a:ext uri="{FF2B5EF4-FFF2-40B4-BE49-F238E27FC236}">
                <a16:creationId xmlns:a16="http://schemas.microsoft.com/office/drawing/2014/main" id="{DC13B616-EB47-0281-9578-0B4744326B2A}"/>
              </a:ext>
            </a:extLst>
          </p:cNvPr>
          <p:cNvSpPr/>
          <p:nvPr/>
        </p:nvSpPr>
        <p:spPr>
          <a:xfrm>
            <a:off x="9261476" y="4320300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23" name="Блок-схема: альтернативный процесс 122">
            <a:extLst>
              <a:ext uri="{FF2B5EF4-FFF2-40B4-BE49-F238E27FC236}">
                <a16:creationId xmlns:a16="http://schemas.microsoft.com/office/drawing/2014/main" id="{9E9F9C9B-39D2-8EAE-4918-4A292A711C02}"/>
              </a:ext>
            </a:extLst>
          </p:cNvPr>
          <p:cNvSpPr/>
          <p:nvPr/>
        </p:nvSpPr>
        <p:spPr>
          <a:xfrm>
            <a:off x="9261476" y="4857091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cxnSp>
        <p:nvCxnSpPr>
          <p:cNvPr id="126" name="Прямая со стрелкой 125">
            <a:extLst>
              <a:ext uri="{FF2B5EF4-FFF2-40B4-BE49-F238E27FC236}">
                <a16:creationId xmlns:a16="http://schemas.microsoft.com/office/drawing/2014/main" id="{F5D19EA3-7305-1243-5E44-AC562B689FF0}"/>
              </a:ext>
            </a:extLst>
          </p:cNvPr>
          <p:cNvCxnSpPr>
            <a:cxnSpLocks/>
            <a:stCxn id="97" idx="3"/>
            <a:endCxn id="120" idx="1"/>
          </p:cNvCxnSpPr>
          <p:nvPr/>
        </p:nvCxnSpPr>
        <p:spPr>
          <a:xfrm flipV="1">
            <a:off x="8972550" y="3382368"/>
            <a:ext cx="288926" cy="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>
            <a:extLst>
              <a:ext uri="{FF2B5EF4-FFF2-40B4-BE49-F238E27FC236}">
                <a16:creationId xmlns:a16="http://schemas.microsoft.com/office/drawing/2014/main" id="{0C026EB2-B69B-AD8D-A7C3-FCFE5DA10FA9}"/>
              </a:ext>
            </a:extLst>
          </p:cNvPr>
          <p:cNvCxnSpPr>
            <a:stCxn id="98" idx="3"/>
            <a:endCxn id="121" idx="1"/>
          </p:cNvCxnSpPr>
          <p:nvPr/>
        </p:nvCxnSpPr>
        <p:spPr>
          <a:xfrm flipV="1">
            <a:off x="8972550" y="3904348"/>
            <a:ext cx="288926" cy="39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E8E5AE7C-3E16-14D9-40EC-913FF3846E7B}"/>
              </a:ext>
            </a:extLst>
          </p:cNvPr>
          <p:cNvCxnSpPr>
            <a:stCxn id="99" idx="3"/>
            <a:endCxn id="122" idx="1"/>
          </p:cNvCxnSpPr>
          <p:nvPr/>
        </p:nvCxnSpPr>
        <p:spPr>
          <a:xfrm flipV="1">
            <a:off x="8972550" y="4474209"/>
            <a:ext cx="288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>
            <a:extLst>
              <a:ext uri="{FF2B5EF4-FFF2-40B4-BE49-F238E27FC236}">
                <a16:creationId xmlns:a16="http://schemas.microsoft.com/office/drawing/2014/main" id="{389DE172-12BF-2CE6-0336-52AF96734752}"/>
              </a:ext>
            </a:extLst>
          </p:cNvPr>
          <p:cNvCxnSpPr>
            <a:stCxn id="100" idx="3"/>
            <a:endCxn id="123" idx="1"/>
          </p:cNvCxnSpPr>
          <p:nvPr/>
        </p:nvCxnSpPr>
        <p:spPr>
          <a:xfrm flipV="1">
            <a:off x="8972550" y="5011000"/>
            <a:ext cx="288926" cy="5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606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EDFC3-9EC9-07E7-D0E5-D70A194B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Пользовательский интерфейс и тестирование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EEBFE9-A708-F9AB-3736-F8EAFA8CF1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8722" y="5569538"/>
            <a:ext cx="10184077" cy="1039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Интерфейс:</a:t>
            </a:r>
            <a:r>
              <a:rPr lang="ru-RU" dirty="0"/>
              <a:t> Консольное меню с 7 пунктами</a:t>
            </a:r>
          </a:p>
        </p:txBody>
      </p:sp>
      <p:pic>
        <p:nvPicPr>
          <p:cNvPr id="4" name="Рисунок 3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90A459-7D3F-1DA1-A741-1C1B36E1BA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45" y="2064337"/>
            <a:ext cx="7318922" cy="333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84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880E5-7DA7-C2E4-41D3-BA9D92BE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Тесты базовых операций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A0A15F-5822-2A43-7CC9-7B8DD3015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816" y="1849558"/>
            <a:ext cx="5028446" cy="6323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1" dirty="0"/>
              <a:t>Добавление записи с полным ФИО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990CDB17-0FD7-D228-3427-66A71DC95736}"/>
              </a:ext>
            </a:extLst>
          </p:cNvPr>
          <p:cNvSpPr txBox="1">
            <a:spLocks/>
          </p:cNvSpPr>
          <p:nvPr/>
        </p:nvSpPr>
        <p:spPr>
          <a:xfrm>
            <a:off x="5979059" y="1996514"/>
            <a:ext cx="5028446" cy="1552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/>
          </a:p>
        </p:txBody>
      </p:sp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688" y="2369093"/>
            <a:ext cx="3244183" cy="23433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4240" y="1910081"/>
            <a:ext cx="4604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Добавление записи без отчества  </a:t>
            </a:r>
            <a:endParaRPr lang="ru-RU" dirty="0"/>
          </a:p>
          <a:p>
            <a:endParaRPr lang="ru-RU" dirty="0"/>
          </a:p>
        </p:txBody>
      </p:sp>
      <p:pic>
        <p:nvPicPr>
          <p:cNvPr id="12" name="Рисунок 11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0838" y="2392837"/>
            <a:ext cx="3858163" cy="2295845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961890"/>
            <a:ext cx="5939790" cy="40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5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880E5-7DA7-C2E4-41D3-BA9D92BE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Тесты базовых операций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A0A15F-5822-2A43-7CC9-7B8DD3015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7731" y="1996515"/>
            <a:ext cx="5028446" cy="56380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b="1" dirty="0"/>
              <a:t>Удаление записи по номеру  </a:t>
            </a:r>
            <a:endParaRPr lang="ru-RU" sz="1800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990CDB17-0FD7-D228-3427-66A71DC95736}"/>
              </a:ext>
            </a:extLst>
          </p:cNvPr>
          <p:cNvSpPr txBox="1">
            <a:spLocks/>
          </p:cNvSpPr>
          <p:nvPr/>
        </p:nvSpPr>
        <p:spPr>
          <a:xfrm>
            <a:off x="5979059" y="1996514"/>
            <a:ext cx="5028446" cy="1552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/>
          </a:p>
        </p:txBody>
      </p:sp>
      <p:pic>
        <p:nvPicPr>
          <p:cNvPr id="5" name="Рисунок 4" descr="Изображение выглядит как текст, снимок экрана&#10;&#10;Содержимое, созданное искусственным интеллектом, может быть неверным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34" y="2511879"/>
            <a:ext cx="5939790" cy="1181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474029"/>
            <a:ext cx="4052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Удаление записи по фамилии  </a:t>
            </a:r>
            <a:endParaRPr lang="ru-RU" dirty="0"/>
          </a:p>
          <a:p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/>
          <p:cNvPicPr/>
          <p:nvPr/>
        </p:nvPicPr>
        <p:blipFill rotWithShape="1">
          <a:blip r:embed="rId3" cstate="print"/>
          <a:srcRect t="35675"/>
          <a:stretch>
            <a:fillRect/>
          </a:stretch>
        </p:blipFill>
        <p:spPr bwMode="auto">
          <a:xfrm>
            <a:off x="268605" y="5166133"/>
            <a:ext cx="5939790" cy="738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543800" y="1910443"/>
            <a:ext cx="3775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Редактирование по номеру  </a:t>
            </a:r>
            <a:endParaRPr lang="ru-RU" dirty="0"/>
          </a:p>
          <a:p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Шрифт, дизайн&#10;&#10;Содержимое, созданное искусственным интеллектом, может быть неверным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89184" y="2579054"/>
            <a:ext cx="321037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5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880E5-7DA7-C2E4-41D3-BA9D92BE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393386" cy="13255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Тесты обработки ошибок (некорректный ввод)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A0A15F-5822-2A43-7CC9-7B8DD3015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5074" y="1784243"/>
            <a:ext cx="5028446" cy="56380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b="1" dirty="0"/>
              <a:t>Пустая фамилия при добавлении </a:t>
            </a:r>
            <a:endParaRPr lang="ru-RU" sz="1800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990CDB17-0FD7-D228-3427-66A71DC95736}"/>
              </a:ext>
            </a:extLst>
          </p:cNvPr>
          <p:cNvSpPr txBox="1">
            <a:spLocks/>
          </p:cNvSpPr>
          <p:nvPr/>
        </p:nvSpPr>
        <p:spPr>
          <a:xfrm>
            <a:off x="5979059" y="1996514"/>
            <a:ext cx="5028446" cy="1552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474029"/>
            <a:ext cx="370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Буквы вместо года рождения 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849586" y="1779813"/>
            <a:ext cx="4760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Некорректная дата — 30 февраля 2023  </a:t>
            </a:r>
            <a:endParaRPr lang="ru-RU" dirty="0"/>
          </a:p>
          <a:p>
            <a:endParaRPr lang="ru-RU" dirty="0"/>
          </a:p>
        </p:txBody>
      </p:sp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84" y="2258695"/>
            <a:ext cx="3362529" cy="1660162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076" y="5160450"/>
            <a:ext cx="3743847" cy="84784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42485" y="2277064"/>
            <a:ext cx="4429743" cy="1324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6914" y="3663042"/>
            <a:ext cx="277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Отрицательный стаж  </a:t>
            </a:r>
            <a:endParaRPr lang="ru-RU" dirty="0"/>
          </a:p>
          <a:p>
            <a:endParaRPr lang="ru-RU" dirty="0"/>
          </a:p>
        </p:txBody>
      </p:sp>
      <p:pic>
        <p:nvPicPr>
          <p:cNvPr id="15" name="Рисунок 14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9989" y="4123593"/>
            <a:ext cx="4153480" cy="7335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98573" y="4865914"/>
            <a:ext cx="4614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Удаление несуществующей фамилии  </a:t>
            </a:r>
            <a:endParaRPr lang="ru-RU" dirty="0"/>
          </a:p>
          <a:p>
            <a:endParaRPr lang="ru-RU" dirty="0"/>
          </a:p>
        </p:txBody>
      </p:sp>
      <p:pic>
        <p:nvPicPr>
          <p:cNvPr id="17" name="Рисунок 16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8962" y="5391785"/>
            <a:ext cx="5939790" cy="64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5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16D12-01D6-B536-35DD-029118FE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Шейкерная сортировка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46FC30-EFE4-8459-D4C5-4BB285141D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776" y="1851660"/>
            <a:ext cx="5413710" cy="485394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/>
              <a:t>Требование:</a:t>
            </a:r>
            <a:r>
              <a:rPr lang="ru-RU"/>
              <a:t> В соответствии с заданием, все отчёты формируются с использованием </a:t>
            </a:r>
            <a:r>
              <a:rPr lang="ru-RU" b="1"/>
              <a:t>шейкерной (коктейльной) сортировки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b="1"/>
              <a:t>Принцип работы:</a:t>
            </a:r>
            <a:endParaRPr lang="ru-RU"/>
          </a:p>
          <a:p>
            <a:pPr lvl="1"/>
            <a:r>
              <a:rPr lang="ru-RU" sz="2600"/>
              <a:t>Это модификация пузырьковой сортировки.</a:t>
            </a:r>
          </a:p>
          <a:p>
            <a:pPr lvl="1"/>
            <a:r>
              <a:rPr lang="ru-RU" sz="2600"/>
              <a:t>Производит проходы по массиву </a:t>
            </a:r>
            <a:r>
              <a:rPr lang="ru-RU" sz="2600" b="1"/>
              <a:t>в обе стороны</a:t>
            </a:r>
            <a:r>
              <a:rPr lang="ru-RU" sz="2600"/>
              <a:t>.</a:t>
            </a:r>
          </a:p>
          <a:p>
            <a:pPr lvl="1"/>
            <a:r>
              <a:rPr lang="ru-RU" sz="2600"/>
              <a:t>На первом проходе слева направо самый большой элемент "всплывает" в конец.</a:t>
            </a:r>
          </a:p>
          <a:p>
            <a:pPr lvl="1"/>
            <a:r>
              <a:rPr lang="ru-RU" sz="2600"/>
              <a:t>На втором проходе справа налево самый маленький элемент "оседает" в начале.</a:t>
            </a:r>
          </a:p>
          <a:p>
            <a:pPr lvl="1"/>
            <a:r>
              <a:rPr lang="ru-RU" sz="2600"/>
              <a:t>Алгоритм завершается, когда за полный цикл (вперед-назад) не было произведено ни одного обмена</a:t>
            </a:r>
            <a:r>
              <a:rPr lang="ru-RU"/>
              <a:t>.</a:t>
            </a:r>
          </a:p>
          <a:p>
            <a:endParaRPr lang="ru-RU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DB56F6E-0F62-837A-FA2B-8346E48D6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515" y="2033589"/>
            <a:ext cx="4501748" cy="417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3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739B5-C357-5D84-0B02-41347D06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Формирование отчётов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D5C909-5FE6-7D3E-FDF7-D9D211CE8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2771" y="1967774"/>
            <a:ext cx="4996543" cy="42745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Программа формирует три типа отчётов:</a:t>
            </a:r>
          </a:p>
          <a:p>
            <a:r>
              <a:rPr lang="ru-RU" dirty="0"/>
              <a:t>Полный список: Сортировка по специальность ↑ + фамилия ↑.</a:t>
            </a:r>
          </a:p>
          <a:p>
            <a:r>
              <a:rPr lang="ru-RU" dirty="0"/>
              <a:t>По специальности: Сортировка по стаж ↓ + пол ↓ + фамилия ↑. (Пользователь выбирает специальность).</a:t>
            </a:r>
          </a:p>
          <a:p>
            <a:r>
              <a:rPr lang="ru-RU" dirty="0"/>
              <a:t>По диапазону оклада: Сортировка по ожидаемый оклад ↓ + фамилия ↑. (Пользователь вводит N1 и N2).</a:t>
            </a:r>
          </a:p>
          <a:p>
            <a:endParaRPr lang="ru-RU" dirty="0"/>
          </a:p>
        </p:txBody>
      </p:sp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/>
          <p:cNvPicPr/>
          <p:nvPr/>
        </p:nvPicPr>
        <p:blipFill>
          <a:blip r:embed="rId2" cstate="print"/>
          <a:srcRect l="-311" t="326" r="311" b="44787"/>
          <a:stretch>
            <a:fillRect/>
          </a:stretch>
        </p:blipFill>
        <p:spPr>
          <a:xfrm>
            <a:off x="5817483" y="1766891"/>
            <a:ext cx="4996543" cy="1233761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меню, Шрифт&#10;&#10;Содержимое, созданное искусственным интеллектом, может быть неверным."/>
          <p:cNvPicPr/>
          <p:nvPr/>
        </p:nvPicPr>
        <p:blipFill>
          <a:blip r:embed="rId3" cstate="print"/>
          <a:srcRect b="55283"/>
          <a:stretch>
            <a:fillRect/>
          </a:stretch>
        </p:blipFill>
        <p:spPr>
          <a:xfrm>
            <a:off x="5817483" y="3151515"/>
            <a:ext cx="5421647" cy="1411667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/>
          <p:cNvPicPr/>
          <p:nvPr/>
        </p:nvPicPr>
        <p:blipFill>
          <a:blip r:embed="rId4" cstate="print"/>
          <a:srcRect b="31387"/>
          <a:stretch>
            <a:fillRect/>
          </a:stretch>
        </p:blipFill>
        <p:spPr>
          <a:xfrm>
            <a:off x="5817483" y="4715777"/>
            <a:ext cx="5421647" cy="201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0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335B7-295A-C461-FDB2-EFF30554F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50F86D-E176-8A96-8A1A-9C27B9D04C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29" y="1905980"/>
            <a:ext cx="10515600" cy="4274503"/>
          </a:xfrm>
        </p:spPr>
        <p:txBody>
          <a:bodyPr>
            <a:normAutofit fontScale="92500"/>
          </a:bodyPr>
          <a:lstStyle/>
          <a:p>
            <a:r>
              <a:rPr lang="ru-RU" dirty="0"/>
              <a:t>Программа «Кадровое агентство» успешно реализована в соответствии с требованиями задания.</a:t>
            </a:r>
          </a:p>
          <a:p>
            <a:r>
              <a:rPr lang="ru-RU" dirty="0"/>
              <a:t>Реализованы все необходимые функции для управления базой данных соискателей.</a:t>
            </a:r>
          </a:p>
          <a:p>
            <a:r>
              <a:rPr lang="ru-RU" dirty="0"/>
              <a:t>Обязательное требование — использование </a:t>
            </a:r>
            <a:r>
              <a:rPr lang="ru-RU" b="1" dirty="0" err="1"/>
              <a:t>шейкерной</a:t>
            </a:r>
            <a:r>
              <a:rPr lang="ru-RU" b="1" dirty="0"/>
              <a:t> сортировки</a:t>
            </a:r>
            <a:r>
              <a:rPr lang="ru-RU" dirty="0"/>
              <a:t> — выполнено для всех отчётов.</a:t>
            </a:r>
          </a:p>
          <a:p>
            <a:r>
              <a:rPr lang="ru-RU" dirty="0"/>
              <a:t>Программа имеет удобный пользовательский интерфейс и встроенные механизмы валидации данных.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27654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570</Words>
  <Application>Microsoft Office PowerPoint</Application>
  <PresentationFormat>Широкоэкранный</PresentationFormat>
  <Paragraphs>81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PermianSansTypeface</vt:lpstr>
      <vt:lpstr>PermianSerifTypeface</vt:lpstr>
      <vt:lpstr>Тема Office</vt:lpstr>
      <vt:lpstr>Индивидуальная работа №1 по дисциплине “Языки программирования”: Программа “Кадровое агентство”</vt:lpstr>
      <vt:lpstr>Цели и задачи</vt:lpstr>
      <vt:lpstr>Структура данных и основные функции</vt:lpstr>
      <vt:lpstr>Схема работы программы</vt:lpstr>
      <vt:lpstr>Пользовательский интерфейс и тестирование</vt:lpstr>
      <vt:lpstr>Тесты базовых операций</vt:lpstr>
      <vt:lpstr>Тесты базовых операций</vt:lpstr>
      <vt:lpstr>Тесты обработки ошибок (некорректный ввод)</vt:lpstr>
      <vt:lpstr>Шейкерная сортировка</vt:lpstr>
      <vt:lpstr>Формирование отчётов</vt:lpstr>
      <vt:lpstr>Итог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Анна Гороховская</cp:lastModifiedBy>
  <cp:revision>43</cp:revision>
  <dcterms:created xsi:type="dcterms:W3CDTF">2020-05-17T17:29:28Z</dcterms:created>
  <dcterms:modified xsi:type="dcterms:W3CDTF">2026-01-21T22:32:05Z</dcterms:modified>
</cp:coreProperties>
</file>